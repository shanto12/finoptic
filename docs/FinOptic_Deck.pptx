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Waste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B8DEF"/>
              </a:solidFill>
              <a:effectLst/>
            </c:spPr>
          </c:dPt>
          <c:dPt>
            <c:idx val="1"/>
            <c:bubble3D val="0"/>
            <c:spPr>
              <a:solidFill>
                <a:srgbClr val="2DD4BF"/>
              </a:solidFill>
              <a:effectLst/>
            </c:spPr>
          </c:dPt>
          <c:dPt>
            <c:idx val="2"/>
            <c:bubble3D val="0"/>
            <c:spPr>
              <a:solidFill>
                <a:srgbClr val="FBBF24"/>
              </a:solidFill>
              <a:effectLst/>
            </c:spPr>
          </c:dPt>
          <c:dPt>
            <c:idx val="3"/>
            <c:bubble3D val="0"/>
            <c:spPr>
              <a:solidFill>
                <a:srgbClr val="A78BFA"/>
              </a:solidFill>
              <a:effectLst/>
            </c:spPr>
          </c:dPt>
          <c:dPt>
            <c:idx val="4"/>
            <c:bubble3D val="0"/>
            <c:spPr>
              <a:solidFill>
                <a:srgbClr val="38BDF8"/>
              </a:solidFill>
              <a:effectLst/>
            </c:spPr>
          </c:dPt>
          <c:dPt>
            <c:idx val="5"/>
            <c:bubble3D val="0"/>
            <c:spPr>
              <a:solidFill>
                <a:srgbClr val="F472B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0C1524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0C1524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0C1524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0C1524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0C1524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0C1524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Idle compute</c:v>
                </c:pt>
                <c:pt idx="1">
                  <c:v>Idle database</c:v>
                </c:pt>
                <c:pt idx="2">
                  <c:v>Orphaned storage</c:v>
                </c:pt>
                <c:pt idx="3">
                  <c:v>Idle network</c:v>
                </c:pt>
                <c:pt idx="4">
                  <c:v>Stale snapshot</c:v>
                </c:pt>
                <c:pt idx="5">
                  <c:v>Unassoc. network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446.3</c:v>
                </c:pt>
                <c:pt idx="1">
                  <c:v>412</c:v>
                </c:pt>
                <c:pt idx="2">
                  <c:v>140.82</c:v>
                </c:pt>
                <c:pt idx="3">
                  <c:v>55.35</c:v>
                </c:pt>
                <c:pt idx="4">
                  <c:v>33.6</c:v>
                </c:pt>
                <c:pt idx="5">
                  <c:v>7.25</c:v>
                </c:pt>
              </c:numCache>
            </c:numRef>
          </c:val>
        </c:ser>
        <c:firstSliceAng val="0"/>
        <c:holeSize val="55"/>
      </c:doughnutChart>
      <c:spPr>
        <a:solidFill>
          <a:srgbClr val="15263C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E6EEF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5263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FINOPS · CLOUD COST OPTIMIZATION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66928" y="16002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FinOptic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6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Cost Optimizer &amp; Remediation Engine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34015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wasted cloud spend  →  price it  →  generate the exact CLI to reclaim it  →  explain it with GenAI.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4160520"/>
            <a:ext cx="3383280" cy="1170432"/>
          </a:xfrm>
          <a:prstGeom prst="roundRect">
            <a:avLst>
              <a:gd name="adj" fmla="val 7031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4306824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$13,143.84/yr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21792" y="4910328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on the sample bill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78808" y="4160520"/>
            <a:ext cx="3383280" cy="1170432"/>
          </a:xfrm>
          <a:prstGeom prst="roundRect">
            <a:avLst>
              <a:gd name="adj" fmla="val 7031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33672" y="4306824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findings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4233672" y="4910328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AWS + Azure, 0 false positives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90688" y="4160520"/>
            <a:ext cx="3383280" cy="1170432"/>
          </a:xfrm>
          <a:prstGeom prst="roundRect">
            <a:avLst>
              <a:gd name="adj" fmla="val 7031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45552" y="4306824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5B8D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 · 51 tests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7845552" y="4910328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finoptic-shanto-demo.netlify.app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Shanto Mathew</a:t>
            </a:r>
            <a:pPr indent="0" marL="0">
              <a:buNone/>
            </a:pPr>
            <a:r>
              <a:rPr lang="en-US" sz="125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GenAI Engineer (FDE) Challenge — Project 1    ·    built end-to-end via AI under architectural direction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— 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bills quietly bleed money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4114800" cy="4206240"/>
          </a:xfrm>
          <a:prstGeom prst="roundRect">
            <a:avLst>
              <a:gd name="adj" fmla="val 2000"/>
            </a:avLst>
          </a:prstGeom>
          <a:solidFill>
            <a:srgbClr val="1B3150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22860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~30%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66928" y="3429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cloud spend is wasted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3977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(industry surveys) — and the evidence is already sitting in the billing export.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56048" y="1783080"/>
            <a:ext cx="3195828" cy="2011680"/>
          </a:xfrm>
          <a:prstGeom prst="roundRect">
            <a:avLst>
              <a:gd name="adj" fmla="val 4091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212080" y="2057400"/>
            <a:ext cx="310896" cy="3108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5687568" y="2020824"/>
            <a:ext cx="2281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Orphaned storage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230368" y="2651760"/>
            <a:ext cx="26471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Unattached EBS / managed disks, stale snapshots nobody owns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26196" y="1783080"/>
            <a:ext cx="3195828" cy="2011680"/>
          </a:xfrm>
          <a:prstGeom prst="roundRect">
            <a:avLst>
              <a:gd name="adj" fmla="val 4091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2228" y="2057400"/>
            <a:ext cx="310896" cy="3108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9157716" y="2020824"/>
            <a:ext cx="2281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Idle compute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700516" y="2651760"/>
            <a:ext cx="26471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running at ~1% CPU; deallocated VMs still billing for disks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56048" y="3977640"/>
            <a:ext cx="3195828" cy="2011680"/>
          </a:xfrm>
          <a:prstGeom prst="roundRect">
            <a:avLst>
              <a:gd name="adj" fmla="val 4091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12080" y="4251960"/>
            <a:ext cx="310896" cy="3108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5687568" y="4215384"/>
            <a:ext cx="2281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Dangling network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230368" y="4846320"/>
            <a:ext cx="26471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Unassociated Elastic/Public IPs, idle NAT gateways &amp; load balancers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26196" y="3977640"/>
            <a:ext cx="3195828" cy="2011680"/>
          </a:xfrm>
          <a:prstGeom prst="roundRect">
            <a:avLst>
              <a:gd name="adj" fmla="val 4091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2228" y="4251960"/>
            <a:ext cx="310896" cy="3108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2" name="Text 20"/>
          <p:cNvSpPr/>
          <p:nvPr/>
        </p:nvSpPr>
        <p:spPr>
          <a:xfrm>
            <a:off x="9157716" y="4215384"/>
            <a:ext cx="2281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Idle databases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700516" y="4846320"/>
            <a:ext cx="26471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instances serving zero connections, month after month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— THE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closed loop: find → price → fix → explain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2558034" cy="2743200"/>
          </a:xfrm>
          <a:prstGeom prst="roundRect">
            <a:avLst>
              <a:gd name="adj" fmla="val 3217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1897" y="2240280"/>
            <a:ext cx="768096" cy="7680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1461897" y="22402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C1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04088" y="3200400"/>
            <a:ext cx="2283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8096" y="3703320"/>
            <a:ext cx="21556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CUR CSV + Azure billing JSON → one normalized model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06674" y="1965960"/>
            <a:ext cx="31089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AC6"/>
                </a:solidFill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399282" y="1965960"/>
            <a:ext cx="2558034" cy="2743200"/>
          </a:xfrm>
          <a:prstGeom prst="roundRect">
            <a:avLst>
              <a:gd name="adj" fmla="val 3217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4251" y="2240280"/>
            <a:ext cx="768096" cy="76809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2" name="Text 10"/>
          <p:cNvSpPr/>
          <p:nvPr/>
        </p:nvSpPr>
        <p:spPr>
          <a:xfrm>
            <a:off x="4294251" y="22402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C1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36442" y="3200400"/>
            <a:ext cx="2283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600450" y="3703320"/>
            <a:ext cx="21556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11-rule waste engine — every finding priced &amp; ranked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39028" y="1965960"/>
            <a:ext cx="31089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AC6"/>
                </a:solidFill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231636" y="1965960"/>
            <a:ext cx="2558034" cy="2743200"/>
          </a:xfrm>
          <a:prstGeom prst="roundRect">
            <a:avLst>
              <a:gd name="adj" fmla="val 3217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26605" y="2240280"/>
            <a:ext cx="768096" cy="7680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7126605" y="22402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C1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368796" y="3200400"/>
            <a:ext cx="2283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Remediate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32804" y="3703320"/>
            <a:ext cx="21556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aws/az CLI + a DRY-RUN-guarded script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71382" y="1965960"/>
            <a:ext cx="31089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AC6"/>
                </a:solidFill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063990" y="1965960"/>
            <a:ext cx="2558034" cy="2743200"/>
          </a:xfrm>
          <a:prstGeom prst="roundRect">
            <a:avLst>
              <a:gd name="adj" fmla="val 3217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58959" y="2240280"/>
            <a:ext cx="768096" cy="7680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/>
          <p:nvPr/>
        </p:nvSpPr>
        <p:spPr>
          <a:xfrm>
            <a:off x="9958959" y="22402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C1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201150" y="3200400"/>
            <a:ext cx="2283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265158" y="3703320"/>
            <a:ext cx="21556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executive summary + prioritized runbook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50749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API-first.  </a:t>
            </a:r>
            <a:pPr algn="ctr" indent="0" marL="0">
              <a:buNone/>
            </a:pPr>
            <a:r>
              <a:rPr lang="en-US" sz="15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dashboard, Python SDK, and CLI are all clients of one FastAPI contract.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—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Decoupled pipeline behind one API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386584" cy="1051560"/>
          </a:xfrm>
          <a:prstGeom prst="roundRect">
            <a:avLst>
              <a:gd name="adj" fmla="val 7826"/>
            </a:avLst>
          </a:prstGeom>
          <a:solidFill>
            <a:srgbClr val="1B3150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98424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8368" y="2404872"/>
            <a:ext cx="220370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Azure parsers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71800" y="1874520"/>
            <a:ext cx="4663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D4BF"/>
                </a:solidFill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456432" y="1874520"/>
            <a:ext cx="2386584" cy="1051560"/>
          </a:xfrm>
          <a:prstGeom prst="roundRect">
            <a:avLst>
              <a:gd name="adj" fmla="val 7826"/>
            </a:avLst>
          </a:prstGeom>
          <a:solidFill>
            <a:srgbClr val="1B3150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47872" y="198424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547872" y="2404872"/>
            <a:ext cx="220370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waste rules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61304" y="1874520"/>
            <a:ext cx="4663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D4BF"/>
                </a:solidFill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874520"/>
            <a:ext cx="2386584" cy="1051560"/>
          </a:xfrm>
          <a:prstGeom prst="roundRect">
            <a:avLst>
              <a:gd name="adj" fmla="val 7826"/>
            </a:avLst>
          </a:prstGeom>
          <a:solidFill>
            <a:srgbClr val="1B3150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37376" y="198424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Remediate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37376" y="2404872"/>
            <a:ext cx="220370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generator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50808" y="1874520"/>
            <a:ext cx="4663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D4BF"/>
                </a:solidFill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235440" y="1874520"/>
            <a:ext cx="2386584" cy="1051560"/>
          </a:xfrm>
          <a:prstGeom prst="roundRect">
            <a:avLst>
              <a:gd name="adj" fmla="val 7826"/>
            </a:avLst>
          </a:prstGeom>
          <a:solidFill>
            <a:srgbClr val="1B3150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26880" y="198424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326880" y="2404872"/>
            <a:ext cx="220370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Postgres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246120"/>
            <a:ext cx="11055096" cy="914400"/>
          </a:xfrm>
          <a:prstGeom prst="roundRect">
            <a:avLst>
              <a:gd name="adj" fmla="val 9000"/>
            </a:avLst>
          </a:prstGeom>
          <a:solidFill>
            <a:srgbClr val="12508A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" y="3246120"/>
            <a:ext cx="10872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 ·  /api/v1  ·  API-key auth  ·  rate limiting  ·  /metrics · /healthz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66928" y="4617720"/>
            <a:ext cx="2489454" cy="914400"/>
          </a:xfrm>
          <a:prstGeom prst="roundRect">
            <a:avLst>
              <a:gd name="adj" fmla="val 9000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" y="4617720"/>
            <a:ext cx="23065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422142" y="4617720"/>
            <a:ext cx="2489454" cy="914400"/>
          </a:xfrm>
          <a:prstGeom prst="roundRect">
            <a:avLst>
              <a:gd name="adj" fmla="val 9000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513582" y="4617720"/>
            <a:ext cx="23065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SDK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277356" y="4617720"/>
            <a:ext cx="2489454" cy="914400"/>
          </a:xfrm>
          <a:prstGeom prst="roundRect">
            <a:avLst>
              <a:gd name="adj" fmla="val 9000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68796" y="4617720"/>
            <a:ext cx="23065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9132570" y="4617720"/>
            <a:ext cx="2489454" cy="914400"/>
          </a:xfrm>
          <a:prstGeom prst="roundRect">
            <a:avLst>
              <a:gd name="adj" fmla="val 9000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224010" y="4727448"/>
            <a:ext cx="2306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GenAI Analyst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224010" y="5148072"/>
            <a:ext cx="23065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deterministic fallback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571500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 are decoupled by framework-free domain dataclasses → built &amp; tested in parallel; SQLite → Postgres is a one-line config change.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— DETECTION ENGINE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explainable rules across AWS &amp; Azure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0" cy="3703320"/>
          </a:xfrm>
          <a:prstGeom prst="roundRect">
            <a:avLst>
              <a:gd name="adj" fmla="val 2222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057400"/>
            <a:ext cx="274320" cy="27432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9933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 ·  7 rules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78408" y="256032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Unattached EBS volume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EC2 instance (low CPU)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Unassociated Elastic IP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RDS (0 connections)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load balancer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NAT gateway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snapshot (&gt;90d)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27648" y="1783080"/>
            <a:ext cx="5294376" cy="3703320"/>
          </a:xfrm>
          <a:prstGeom prst="roundRect">
            <a:avLst>
              <a:gd name="adj" fmla="val 2222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20256" y="2057400"/>
            <a:ext cx="274320" cy="27432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0" y="1993392"/>
            <a:ext cx="4379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 ·  4 rules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39128" y="2560320"/>
            <a:ext cx="45628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Unattached managed disk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Unassociated public IP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Deallocated VM (disks still billing)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disk snapshot (&gt;90d)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66928" y="571500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rule is a pure, explainable function — a finding records the exact signals that triggered it, plus severity, confidence &amp; cost. Adding a rule = adding one function.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— 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finds on the bundled sample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0" cy="2286000"/>
          </a:xfrm>
          <a:prstGeom prst="roundRect">
            <a:avLst>
              <a:gd name="adj" fmla="val 3600"/>
            </a:avLst>
          </a:prstGeom>
          <a:solidFill>
            <a:srgbClr val="1B3150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0116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$1,095.32 / month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58368" y="28803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$13,143.84 / year recoverable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33832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resources scanned  ·  17 findings  ·  0 false positives on healthy controls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4297680"/>
            <a:ext cx="1691640" cy="1170432"/>
          </a:xfrm>
          <a:prstGeom prst="roundRect">
            <a:avLst>
              <a:gd name="adj" fmla="val 7031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4443984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21792" y="5047488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41448" y="4297680"/>
            <a:ext cx="1691640" cy="1170432"/>
          </a:xfrm>
          <a:prstGeom prst="roundRect">
            <a:avLst>
              <a:gd name="adj" fmla="val 7031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96312" y="4443984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496312" y="5047488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15968" y="4297680"/>
            <a:ext cx="1737360" cy="1170432"/>
          </a:xfrm>
          <a:prstGeom prst="roundRect">
            <a:avLst>
              <a:gd name="adj" fmla="val 7031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70832" y="4443984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97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4370832" y="504748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high-sev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19088" y="1783080"/>
            <a:ext cx="5202936" cy="4114800"/>
          </a:xfrm>
          <a:prstGeom prst="roundRect">
            <a:avLst>
              <a:gd name="adj" fmla="val 2000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01968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Recoverable $/mo by category</a:t>
            </a:r>
            <a:endParaRPr lang="en-US" sz="14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510528" y="2286000"/>
          <a:ext cx="5020056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— GENAI ANALYST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Grounded, bounded, and graceful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344668" cy="1783080"/>
          </a:xfrm>
          <a:prstGeom prst="roundRect">
            <a:avLst>
              <a:gd name="adj" fmla="val 4615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828800"/>
            <a:ext cx="109728" cy="17830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029968"/>
            <a:ext cx="4796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Provider-agnostic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2560320"/>
            <a:ext cx="47045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/ OpenAI / Azure OpenAI over httpx — no vendor SDKs to pin.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7356" y="1828800"/>
            <a:ext cx="5344668" cy="1783080"/>
          </a:xfrm>
          <a:prstGeom prst="roundRect">
            <a:avLst>
              <a:gd name="adj" fmla="val 4615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77356" y="1828800"/>
            <a:ext cx="109728" cy="178308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0" name="Text 8"/>
          <p:cNvSpPr/>
          <p:nvPr/>
        </p:nvSpPr>
        <p:spPr>
          <a:xfrm>
            <a:off x="6643116" y="2029968"/>
            <a:ext cx="4796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RAG-style grounding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43116" y="2560320"/>
            <a:ext cx="47045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FinOps knowledge base is retrieved by category and injected into the prompt.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840480"/>
            <a:ext cx="5344668" cy="1783080"/>
          </a:xfrm>
          <a:prstGeom prst="roundRect">
            <a:avLst>
              <a:gd name="adj" fmla="val 4615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3840480"/>
            <a:ext cx="109728" cy="17830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4041648"/>
            <a:ext cx="4796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32688" y="4572000"/>
            <a:ext cx="47045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prompt size, strict timeout, tolerant parsing, capped findings.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7356" y="3840480"/>
            <a:ext cx="5344668" cy="1783080"/>
          </a:xfrm>
          <a:prstGeom prst="roundRect">
            <a:avLst>
              <a:gd name="adj" fmla="val 4615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77356" y="3840480"/>
            <a:ext cx="109728" cy="17830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6643116" y="4041648"/>
            <a:ext cx="4796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Graceful degradation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43116" y="4572000"/>
            <a:ext cx="47045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LLM error → a high-quality deterministic runbook. The pipeline never breaks.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6928" y="589788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/api/v1/analyze  →  { mode: "llm" | "deterministic", executive_summary, prioritized_runbook[] }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— SAFETY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engine recommends; the human disposes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1055096" cy="932688"/>
          </a:xfrm>
          <a:prstGeom prst="roundRect">
            <a:avLst>
              <a:gd name="adj" fmla="val 8824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12264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112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1524"/>
                </a:solidFill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35608" y="1828800"/>
            <a:ext cx="99578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Recommend, never execute   </a:t>
            </a:r>
            <a:pPr indent="0" marL="0">
              <a:buNone/>
            </a:pPr>
            <a:r>
              <a:rPr lang="en-US" sz="140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ships the exact aws/az command with a risk rating and a reversible flag.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926080"/>
            <a:ext cx="11055096" cy="932688"/>
          </a:xfrm>
          <a:prstGeom prst="roundRect">
            <a:avLst>
              <a:gd name="adj" fmla="val 8824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3209544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209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1524"/>
                </a:solidFill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35608" y="2926080"/>
            <a:ext cx="99578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by default   </a:t>
            </a:r>
            <a:pPr indent="0" marL="0">
              <a:buNone/>
            </a:pPr>
            <a:r>
              <a:rPr lang="en-US" sz="140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exported script prints commands under DRY_RUN=1; only DRY_RUN=0 executes anything.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4023360"/>
            <a:ext cx="11055096" cy="932688"/>
          </a:xfrm>
          <a:prstGeom prst="roundRect">
            <a:avLst>
              <a:gd name="adj" fmla="val 8824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4306824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4306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1524"/>
                </a:solidFill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35608" y="4023360"/>
            <a:ext cx="99578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Destructive-safe   </a:t>
            </a:r>
            <a:pPr indent="0" marL="0">
              <a:buNone/>
            </a:pPr>
            <a:r>
              <a:rPr lang="en-US" sz="140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Snapshot-before-delete where possible; all arguments shlex-quoted — no shell injection.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5120640"/>
            <a:ext cx="11055096" cy="932688"/>
          </a:xfrm>
          <a:prstGeom prst="roundRect">
            <a:avLst>
              <a:gd name="adj" fmla="val 8824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5404104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5404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1524"/>
                </a:solidFill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35608" y="5120640"/>
            <a:ext cx="99578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clean up   </a:t>
            </a:r>
            <a:pPr indent="0" marL="0">
              <a:buNone/>
            </a:pPr>
            <a:r>
              <a:rPr lang="en-US" sz="1400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infrastructure is provisioned — no spend incurred, nothing to decommission.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 — ENGINEERING QUALITY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to a senior bar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2523744" cy="2468880"/>
          </a:xfrm>
          <a:prstGeom prst="roundRect">
            <a:avLst>
              <a:gd name="adj" fmla="val 3333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214884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API-first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8096" y="2743200"/>
            <a:ext cx="212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OpenAPI · auth · rate-limit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10712" y="1920240"/>
            <a:ext cx="2523744" cy="2468880"/>
          </a:xfrm>
          <a:prstGeom prst="roundRect">
            <a:avLst>
              <a:gd name="adj" fmla="val 3333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47872" y="214884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11880" y="2743200"/>
            <a:ext cx="212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tests · 86% coverage · ruff · CI 3.11/3.12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4496" y="1920240"/>
            <a:ext cx="2523744" cy="2468880"/>
          </a:xfrm>
          <a:prstGeom prst="roundRect">
            <a:avLst>
              <a:gd name="adj" fmla="val 3333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91656" y="214884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55664" y="2743200"/>
            <a:ext cx="212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logs + request-id · Prometheus /metrics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98280" y="1920240"/>
            <a:ext cx="2523744" cy="2468880"/>
          </a:xfrm>
          <a:prstGeom prst="roundRect">
            <a:avLst>
              <a:gd name="adj" fmla="val 3333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35440" y="214884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Shippable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299448" y="2743200"/>
            <a:ext cx="212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Makefile · Python SDK · CLI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754880"/>
            <a:ext cx="11055096" cy="1097280"/>
          </a:xfrm>
          <a:prstGeom prst="roundRect">
            <a:avLst>
              <a:gd name="adj" fmla="val 7500"/>
            </a:avLst>
          </a:prstGeom>
          <a:solidFill>
            <a:srgbClr val="1B3150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4754880"/>
            <a:ext cx="10506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built:  </a:t>
            </a:r>
            <a:pPr indent="0" marL="0">
              <a:buNone/>
            </a:pPr>
            <a:r>
              <a:rPr lang="en-US" sz="14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contract-first design  →  7 parallel AI module-builders  →  adversarial multi-agent review  →  green gates. </a:t>
            </a:r>
            <a:pPr indent="0" marL="0">
              <a:buNone/>
            </a:pPr>
            <a:r>
              <a:rPr lang="en-US" sz="1400" i="1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was hand-edited (vibe-coding).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— FIT &amp; 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the GenAI Engineer (FDE) role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486400" cy="4023360"/>
          </a:xfrm>
          <a:prstGeom prst="roundRect">
            <a:avLst>
              <a:gd name="adj" fmla="val 2045"/>
            </a:avLst>
          </a:prstGeom>
          <a:solidFill>
            <a:srgbClr val="15263C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2011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Maps to the role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24128" y="2514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 (contract-first, OpenAPI)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GenAI: LLM integration, RAG grounding, guardrails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design + packaging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FinOps domain depth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Docker, pytest, observability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ship-fast, ownership-driven execution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73368" y="1828800"/>
            <a:ext cx="5248656" cy="4023360"/>
          </a:xfrm>
          <a:prstGeom prst="roundRect">
            <a:avLst>
              <a:gd name="adj" fmla="val 2045"/>
            </a:avLst>
          </a:prstGeom>
          <a:solidFill>
            <a:srgbClr val="1B3150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93408" y="2011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30568" y="2514600"/>
            <a:ext cx="442569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Alembic migrations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Right-sizing &amp; commitment-coverage rules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evaluation / golden-set harness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/ OIDC + multi-tenant isolation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SDK to PyPI (semver)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(Bicep/Terraform) for the service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66928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FinOptic — turn the cloud bill into an executable savings plan.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3931920"/>
            <a:ext cx="11055096" cy="1920240"/>
          </a:xfrm>
          <a:prstGeom prst="roundRect">
            <a:avLst>
              <a:gd name="adj" fmla="val 4286"/>
            </a:avLst>
          </a:prstGeom>
          <a:solidFill>
            <a:srgbClr val="1B3150"/>
          </a:solidFill>
          <a:ln w="9525">
            <a:solidFill>
              <a:srgbClr val="274566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78408" y="3931920"/>
            <a:ext cx="102321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 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finoptic-shanto-demo.netlify.app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94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     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github.com/shanto12/finoptic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Shanto Mathew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FinOptic — Cloud Cost Optimizer &amp; Remediation Engine</dc:title>
  <dc:subject>PptxGenJS Presentation</dc:subject>
  <dc:creator>Shanto Mathew</dc:creator>
  <cp:lastModifiedBy>Shanto Mathew</cp:lastModifiedBy>
  <cp:revision>1</cp:revision>
  <dcterms:created xsi:type="dcterms:W3CDTF">2026-06-04T22:25:40Z</dcterms:created>
  <dcterms:modified xsi:type="dcterms:W3CDTF">2026-06-04T22:25:40Z</dcterms:modified>
</cp:coreProperties>
</file>